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embeddedFontLst>
    <p:embeddedFont>
      <p:font typeface="Overlock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hHDNqJe+2acmb7F7idGCpf9MSH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82574CF-C131-491D-B5CF-AE2781D53D11}">
  <a:tblStyle styleId="{482574CF-C131-491D-B5CF-AE2781D53D1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verlock-bold.fntdata"/><Relationship Id="rId25" Type="http://schemas.openxmlformats.org/officeDocument/2006/relationships/font" Target="fonts/Overlock-regular.fntdata"/><Relationship Id="rId28" Type="http://schemas.openxmlformats.org/officeDocument/2006/relationships/font" Target="fonts/Overlock-boldItalic.fntdata"/><Relationship Id="rId27" Type="http://schemas.openxmlformats.org/officeDocument/2006/relationships/font" Target="fonts/Overlock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c785d8fb0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g3bc785d8fb0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c7c090dc5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bc7c090dc5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g3bc7c090dc5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c7c090dc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bc7c090dc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g3bc7c090dc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c7c090dc5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bc7c090dc5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g3bc7c090dc5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c7c090dc5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bc7c090dc5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g3bc7c090dc5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Good bye</a:t>
            </a:r>
            <a:endParaRPr/>
          </a:p>
        </p:txBody>
      </p:sp>
      <p:sp>
        <p:nvSpPr>
          <p:cNvPr id="206" name="Google Shape;20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1"/>
          <p:cNvSpPr txBox="1"/>
          <p:nvPr>
            <p:ph type="ctrTitle"/>
          </p:nvPr>
        </p:nvSpPr>
        <p:spPr>
          <a:xfrm>
            <a:off x="1018674" y="1122363"/>
            <a:ext cx="101706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21"/>
          <p:cNvCxnSpPr/>
          <p:nvPr/>
        </p:nvCxnSpPr>
        <p:spPr>
          <a:xfrm>
            <a:off x="1018674" y="3565358"/>
            <a:ext cx="101706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99137" y="213653"/>
            <a:ext cx="1659989" cy="46110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2"/>
          <p:cNvSpPr txBox="1"/>
          <p:nvPr>
            <p:ph type="title"/>
          </p:nvPr>
        </p:nvSpPr>
        <p:spPr>
          <a:xfrm>
            <a:off x="284749" y="136525"/>
            <a:ext cx="9914388" cy="6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b="1" sz="36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2"/>
          <p:cNvSpPr txBox="1"/>
          <p:nvPr>
            <p:ph idx="1" type="body"/>
          </p:nvPr>
        </p:nvSpPr>
        <p:spPr>
          <a:xfrm>
            <a:off x="276726" y="930444"/>
            <a:ext cx="11582400" cy="52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3" name="Google Shape;23;p22"/>
          <p:cNvCxnSpPr/>
          <p:nvPr/>
        </p:nvCxnSpPr>
        <p:spPr>
          <a:xfrm>
            <a:off x="276726" y="882316"/>
            <a:ext cx="115824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4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4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9" name="Google Shape;29;p2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5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6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6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8" name="Google Shape;38;p26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26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8" name="Google Shape;48;p28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9" name="Google Shape;49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9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29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0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1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1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"/>
          <p:cNvSpPr txBox="1"/>
          <p:nvPr>
            <p:ph type="ctrTitle"/>
          </p:nvPr>
        </p:nvSpPr>
        <p:spPr>
          <a:xfrm>
            <a:off x="187450" y="1122375"/>
            <a:ext cx="118257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-US" sz="3600"/>
              <a:t>FANet: A Feedback Attention Network for Improved Biomedical Image </a:t>
            </a:r>
            <a:endParaRPr sz="3600"/>
          </a:p>
        </p:txBody>
      </p:sp>
      <p:pic>
        <p:nvPicPr>
          <p:cNvPr id="69" name="Google Shape;6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9818" y="-63020"/>
            <a:ext cx="3140964" cy="314096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"/>
          <p:cNvSpPr txBox="1"/>
          <p:nvPr/>
        </p:nvSpPr>
        <p:spPr>
          <a:xfrm>
            <a:off x="9716027" y="4988108"/>
            <a:ext cx="30528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October, 2026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"/>
          <p:cNvSpPr txBox="1"/>
          <p:nvPr/>
        </p:nvSpPr>
        <p:spPr>
          <a:xfrm>
            <a:off x="2436845" y="4037266"/>
            <a:ext cx="7318310" cy="1278292"/>
          </a:xfrm>
          <a:prstGeom prst="rect">
            <a:avLst/>
          </a:prstGeom>
          <a:noFill/>
          <a:ln>
            <a:noFill/>
          </a:ln>
          <a:effectLst>
            <a:outerShdw blurRad="152400" sx="90000" rotWithShape="0" dir="5400000" dist="317500" sy="-19000">
              <a:srgbClr val="000000">
                <a:alpha val="8235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 Report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/>
        </p:nvSpPr>
        <p:spPr>
          <a:xfrm>
            <a:off x="301875" y="1410525"/>
            <a:ext cx="11517000" cy="44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6858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1D1C1D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rgbClr val="1D1C1D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b="0" i="0" sz="2000" u="none" cap="none" strike="noStrike">
              <a:solidFill>
                <a:srgbClr val="1D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rgbClr val="1D1C1D"/>
                </a:solidFill>
                <a:latin typeface="Arial"/>
                <a:ea typeface="Arial"/>
                <a:cs typeface="Arial"/>
                <a:sym typeface="Arial"/>
              </a:rPr>
              <a:t>Abstract</a:t>
            </a:r>
            <a:endParaRPr b="0" i="0" sz="2000" u="none" cap="none" strike="noStrike">
              <a:solidFill>
                <a:srgbClr val="1D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rgbClr val="1D1C1D"/>
                </a:solidFill>
                <a:latin typeface="Arial"/>
                <a:ea typeface="Arial"/>
                <a:cs typeface="Arial"/>
                <a:sym typeface="Arial"/>
              </a:rPr>
              <a:t>Contributions (Performance, Impact, Novelty in your mind)</a:t>
            </a:r>
            <a:endParaRPr b="0" i="0" sz="2000" u="none" cap="none" strike="noStrike">
              <a:solidFill>
                <a:srgbClr val="1D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rgbClr val="1D1C1D"/>
                </a:solidFill>
                <a:latin typeface="Arial"/>
                <a:ea typeface="Arial"/>
                <a:cs typeface="Arial"/>
                <a:sym typeface="Arial"/>
              </a:rPr>
              <a:t>A brief summary of the key gaps in related work and your main idea to solve the problems</a:t>
            </a:r>
            <a:endParaRPr b="0" i="0" sz="2000" u="none" cap="none" strike="noStrike">
              <a:solidFill>
                <a:srgbClr val="1D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rgbClr val="1D1C1D"/>
                </a:solidFill>
                <a:latin typeface="Arial"/>
                <a:ea typeface="Arial"/>
                <a:cs typeface="Arial"/>
                <a:sym typeface="Arial"/>
              </a:rPr>
              <a:t>Methods (brief)</a:t>
            </a:r>
            <a:endParaRPr b="0" i="0" sz="2000" u="none" cap="none" strike="noStrike">
              <a:solidFill>
                <a:srgbClr val="1D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rgbClr val="1D1C1D"/>
                </a:solidFill>
                <a:latin typeface="Arial"/>
                <a:ea typeface="Arial"/>
                <a:cs typeface="Arial"/>
                <a:sym typeface="Arial"/>
              </a:rPr>
              <a:t>Evaluation setting</a:t>
            </a:r>
            <a:endParaRPr b="0" i="0" sz="2000" u="none" cap="none" strike="noStrike">
              <a:solidFill>
                <a:srgbClr val="1D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rgbClr val="1D1C1D"/>
                </a:solidFill>
                <a:latin typeface="Arial"/>
                <a:ea typeface="Arial"/>
                <a:cs typeface="Arial"/>
                <a:sym typeface="Arial"/>
              </a:rPr>
              <a:t>Performance evaluation (quantitative &amp; qualitative)</a:t>
            </a:r>
            <a:endParaRPr b="0" i="0" sz="2000" u="none" cap="none" strike="noStrike">
              <a:solidFill>
                <a:srgbClr val="1D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rgbClr val="1D1C1D"/>
                </a:solidFill>
                <a:latin typeface="Arial"/>
                <a:ea typeface="Arial"/>
                <a:cs typeface="Arial"/>
                <a:sym typeface="Arial"/>
              </a:rPr>
              <a:t>Ablation studies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D1C1D"/>
                </a:solidFill>
                <a:latin typeface="Arial"/>
                <a:ea typeface="Arial"/>
                <a:cs typeface="Arial"/>
                <a:sym typeface="Arial"/>
              </a:rPr>
              <a:t>For (7) and (8), please compile all tables and figures you plan to include in the paper (values can be left blank).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D1C1D"/>
                </a:solidFill>
                <a:latin typeface="Arial"/>
                <a:ea typeface="Arial"/>
                <a:cs typeface="Arial"/>
                <a:sym typeface="Arial"/>
              </a:rPr>
              <a:t>The goal is to share the overall paper structure, identify critical issues, get constructive feedback, and help authors prepare their draft early.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c785d8fb0_0_7"/>
          <p:cNvSpPr txBox="1"/>
          <p:nvPr>
            <p:ph type="title"/>
          </p:nvPr>
        </p:nvSpPr>
        <p:spPr>
          <a:xfrm>
            <a:off x="284749" y="136525"/>
            <a:ext cx="99144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Baseline</a:t>
            </a:r>
            <a:endParaRPr/>
          </a:p>
        </p:txBody>
      </p:sp>
      <p:sp>
        <p:nvSpPr>
          <p:cNvPr id="82" name="Google Shape;82;g3bc785d8fb0_0_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g3bc785d8fb0_0_7"/>
          <p:cNvSpPr txBox="1"/>
          <p:nvPr/>
        </p:nvSpPr>
        <p:spPr>
          <a:xfrm>
            <a:off x="484094" y="1344706"/>
            <a:ext cx="3989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g3bc785d8fb0_0_7"/>
          <p:cNvSpPr txBox="1"/>
          <p:nvPr/>
        </p:nvSpPr>
        <p:spPr>
          <a:xfrm>
            <a:off x="693600" y="6128850"/>
            <a:ext cx="10804800" cy="5231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Nikhil Kumar Tomar, Debesh Jha, Member, IEEE, Michael A. Riegler, Member, IEEE, H˚avard D. Johansen, Member, IEEE, Dag Johansen, Member, IEEE, Jens Rittscher, Member, IEEE, P˚al Halvorsen, Member, IEEE, and Sharib Ali, Member, IEEE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3bc785d8fb0_0_7"/>
          <p:cNvSpPr txBox="1"/>
          <p:nvPr/>
        </p:nvSpPr>
        <p:spPr>
          <a:xfrm>
            <a:off x="508999" y="1511100"/>
            <a:ext cx="4709611" cy="4034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Methods typically perform single-pass prediction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Prediction errors are not explicitly fed back to the network for further refinement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Limited ability to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iteratively correct segmentation errors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FANet without MixPool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used as the baseline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B1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feedback mechanism.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iterative pruning/refinement.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Compare B1 with the full FANet (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B4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to evaluate the contribution of the proposed feedback mechanism.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:/Giselle_/My Project/FANet/assets/fanet_architecture.png" id="86" name="Google Shape;86;g3bc785d8fb0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8611" y="992415"/>
            <a:ext cx="6364697" cy="506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c7c090dc5_0_7"/>
          <p:cNvSpPr txBox="1"/>
          <p:nvPr>
            <p:ph type="title"/>
          </p:nvPr>
        </p:nvSpPr>
        <p:spPr>
          <a:xfrm>
            <a:off x="284749" y="136525"/>
            <a:ext cx="99144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93" name="Google Shape;93;g3bc7c090dc5_0_7"/>
          <p:cNvSpPr txBox="1"/>
          <p:nvPr>
            <p:ph idx="1" type="body"/>
          </p:nvPr>
        </p:nvSpPr>
        <p:spPr>
          <a:xfrm>
            <a:off x="599850" y="1986648"/>
            <a:ext cx="10992300" cy="3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676"/>
              <a:buNone/>
            </a:pPr>
            <a:r>
              <a:rPr lang="en-US" sz="4400"/>
              <a:t>FANet: A Feedback Attention Network for Improved Biomedical Image </a:t>
            </a:r>
            <a:endParaRPr sz="4400"/>
          </a:p>
        </p:txBody>
      </p:sp>
      <p:sp>
        <p:nvSpPr>
          <p:cNvPr id="94" name="Google Shape;94;g3bc7c090dc5_0_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c7c090dc5_0_0"/>
          <p:cNvSpPr txBox="1"/>
          <p:nvPr>
            <p:ph type="title"/>
          </p:nvPr>
        </p:nvSpPr>
        <p:spPr>
          <a:xfrm>
            <a:off x="284749" y="136525"/>
            <a:ext cx="99144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Abstract</a:t>
            </a:r>
            <a:endParaRPr/>
          </a:p>
        </p:txBody>
      </p:sp>
      <p:sp>
        <p:nvSpPr>
          <p:cNvPr id="101" name="Google Shape;101;g3bc7c090dc5_0_0"/>
          <p:cNvSpPr txBox="1"/>
          <p:nvPr>
            <p:ph idx="1" type="body"/>
          </p:nvPr>
        </p:nvSpPr>
        <p:spPr>
          <a:xfrm>
            <a:off x="304801" y="1204019"/>
            <a:ext cx="11582400" cy="4913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FANet (TNNLS 2022) feeds its previous binary prediction back into the network to refine polyp segmentation.</a:t>
            </a:r>
            <a:endParaRPr/>
          </a:p>
          <a:p>
            <a:pPr indent="-2286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Reproducing it on sessile Kvasir-SEG exposes two structural flaws: the learned attention branch never trains, and binary foreground-only feedback amplifies over-segmentation (FP/FN = 2.48).</a:t>
            </a:r>
            <a:endParaRPr/>
          </a:p>
          <a:p>
            <a:pPr indent="-2286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In a controlled 2×2 ablation — feedback × {DiceBCE, asymmetric Tversky α=0.7/β=0.3} — the asymmetric loss reduces FP by 3.25pp (p = .005) with unchanged Dice.</a:t>
            </a:r>
            <a:endParaRPr/>
          </a:p>
          <a:p>
            <a:pPr indent="-2286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This holds only when feedback is disabled; with mask feedback, FP does not improve (interaction = +4.17pp).</a:t>
            </a:r>
            <a:endParaRPr/>
          </a:p>
          <a:p>
            <a:pPr indent="-2286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The mask-at-input feedback loop thus blocks loss-side FP suppression — a systematic negative-result with two reproducibility findings.</a:t>
            </a:r>
            <a:endParaRPr/>
          </a:p>
        </p:txBody>
      </p:sp>
      <p:sp>
        <p:nvSpPr>
          <p:cNvPr id="102" name="Google Shape;102;g3bc7c090dc5_0_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c7c090dc5_0_16"/>
          <p:cNvSpPr txBox="1"/>
          <p:nvPr>
            <p:ph type="title"/>
          </p:nvPr>
        </p:nvSpPr>
        <p:spPr>
          <a:xfrm>
            <a:off x="284749" y="136525"/>
            <a:ext cx="99144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Contributions</a:t>
            </a:r>
            <a:endParaRPr/>
          </a:p>
        </p:txBody>
      </p:sp>
      <p:sp>
        <p:nvSpPr>
          <p:cNvPr id="109" name="Google Shape;109;g3bc7c090dc5_0_16"/>
          <p:cNvSpPr txBox="1"/>
          <p:nvPr>
            <p:ph idx="1" type="body"/>
          </p:nvPr>
        </p:nvSpPr>
        <p:spPr>
          <a:xfrm>
            <a:off x="276726" y="930444"/>
            <a:ext cx="11582400" cy="52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/>
              <a:t>Performance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FP 6.53% → 3.28% (−3.25 pp, p = .005, 27/40 ảnh) bằng asymmetric Tversky (α=0.7/β=0.3), Dice không đổi.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Chỉ đạt được khi tắt feedback; giữ feedback thì FP không giảm (interaction +4.17 pp).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Không đổi kiến trúc (~7.7M params) — chỉ thay loss.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/>
              <a:t>Novelty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Ablation 2×2 đầu tiên tách feedback vs loss trên FP, định lượng interaction (+4.17 pp).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Chẩn đoán cơ chế: nhánh attention chết (0/160 gradient); feedback nhị phân gây over-segmentation (FP/FN = 2.48).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Khung negative-result có kiểm soát và phát hiện soft-dice che giấu collapse.</a:t>
            </a: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</p:txBody>
      </p:sp>
      <p:sp>
        <p:nvSpPr>
          <p:cNvPr id="110" name="Google Shape;110;g3bc7c090dc5_0_1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c7c090dc5_0_25"/>
          <p:cNvSpPr txBox="1"/>
          <p:nvPr>
            <p:ph type="title"/>
          </p:nvPr>
        </p:nvSpPr>
        <p:spPr>
          <a:xfrm>
            <a:off x="284749" y="136525"/>
            <a:ext cx="99144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Key gaps in related works and main idea</a:t>
            </a:r>
            <a:endParaRPr/>
          </a:p>
        </p:txBody>
      </p:sp>
      <p:sp>
        <p:nvSpPr>
          <p:cNvPr id="117" name="Google Shape;117;g3bc7c090dc5_0_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18" name="Google Shape;118;g3bc7c090dc5_0_25"/>
          <p:cNvGraphicFramePr/>
          <p:nvPr/>
        </p:nvGraphicFramePr>
        <p:xfrm>
          <a:off x="952500" y="128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{482574CF-C131-491D-B5CF-AE2781D53D11}</a:tableStyleId>
              </a:tblPr>
              <a:tblGrid>
                <a:gridCol w="5143500"/>
                <a:gridCol w="51435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Gap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Description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FANet uses hard binary mask-at-input feedback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Recent polyp methods favor soft/internal feedback (FEGNet, RefineU-Net); FANet's design is the known-weak branch.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Loss-side FP penalties never ablated against feedback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wIoU+wBCE, Tversky and focal are standard in polyp segmentation, but untested against FANet's feedback mechanism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Source of FP improvement is confounded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No study isolates whether FP gains come from the loss or from feedback's own prune/suppress role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9" name="Google Shape;119;g3bc7c090dc5_0_25"/>
          <p:cNvSpPr txBox="1"/>
          <p:nvPr/>
        </p:nvSpPr>
        <p:spPr>
          <a:xfrm>
            <a:off x="952500" y="4552525"/>
            <a:ext cx="104013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main Idea: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Run a controlled 2×2 factorial {feedback, no-feedback} × {DiceBCE, asymmetric Tversky} to attribute FP changes to loss, feedback, or their interaction.- Track per-image FP/FPR, precision and recall, logging binary val-metrics every epoch.- Show that mask-at-input feedback blocks loss-side FP suppression (interaction +4.17 pp).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 txBox="1"/>
          <p:nvPr>
            <p:ph idx="1" type="body"/>
          </p:nvPr>
        </p:nvSpPr>
        <p:spPr>
          <a:xfrm>
            <a:off x="-361902" y="124900"/>
            <a:ext cx="4353331" cy="825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143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3600"/>
              <a:t>Method (brief)</a:t>
            </a:r>
            <a:endParaRPr/>
          </a:p>
        </p:txBody>
      </p:sp>
      <p:sp>
        <p:nvSpPr>
          <p:cNvPr id="125" name="Google Shape;125;p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3"/>
          <p:cNvSpPr txBox="1"/>
          <p:nvPr/>
        </p:nvSpPr>
        <p:spPr>
          <a:xfrm>
            <a:off x="907143" y="1429657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600501" y="1281556"/>
            <a:ext cx="6277970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Baseline — FANet. 4-level encoder–decoder (~7.7M params) with MixPool feedback attention: a learned attention map fmask is combined with the previous prediction mask via a hard gate keep = max(fmask, m_fg), and the binary mask is concatenated to the output head. Feedback is cross-epoch (mask updated on val improvement), initialized by Otsu.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600501" y="2650727"/>
            <a:ext cx="62779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Asymmetric loss. L = 0.5·DiceBCE + 0.5·Tversky(α=0.7, β=0.3), where α penalizes FP and β penalizes FN; TI = |PG| / (|PG| + α|P\G| + β|G\P|).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600501" y="4350843"/>
            <a:ext cx="627797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Training. 200 epochs, Adam lr 1e-4, batch 2, 256×256, ReduceLROnPlateau (patience 5), Kaggle T4.Evaluation. 4-iteration test-time refinement, per-image Dice/IoU/FP/FN/precision/recall, binary val-metrics logged every epoch; paired Wilcoxon + bootstrap CI + Bayes BF10.</a:t>
            </a:r>
            <a:endParaRPr/>
          </a:p>
        </p:txBody>
      </p:sp>
      <p:sp>
        <p:nvSpPr>
          <p:cNvPr id="130" name="Google Shape;130;p3"/>
          <p:cNvSpPr txBox="1"/>
          <p:nvPr/>
        </p:nvSpPr>
        <p:spPr>
          <a:xfrm>
            <a:off x="600501" y="3412559"/>
            <a:ext cx="627797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2×2 factorial. Four cells under one protocol: T00 (feedback × DiceBCE), T0N (no-feedback × DiceBCE), TC (feedback × asymmetric), TD (no-feedback × asymmetric). "No-feedback" feeds a zero mask.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"/>
          <p:cNvSpPr txBox="1"/>
          <p:nvPr>
            <p:ph type="title"/>
          </p:nvPr>
        </p:nvSpPr>
        <p:spPr>
          <a:xfrm>
            <a:off x="284749" y="136525"/>
            <a:ext cx="9914388" cy="6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Evaluate settings</a:t>
            </a:r>
            <a:endParaRPr/>
          </a:p>
        </p:txBody>
      </p:sp>
      <p:sp>
        <p:nvSpPr>
          <p:cNvPr id="136" name="Google Shape;136;p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" name="Google Shape;137;p2"/>
          <p:cNvSpPr txBox="1"/>
          <p:nvPr/>
        </p:nvSpPr>
        <p:spPr>
          <a:xfrm>
            <a:off x="3048000" y="3275112"/>
            <a:ext cx="6096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"/>
          <p:cNvSpPr txBox="1"/>
          <p:nvPr/>
        </p:nvSpPr>
        <p:spPr>
          <a:xfrm>
            <a:off x="358587" y="2131209"/>
            <a:ext cx="11394000" cy="3416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Kvasir-SEG sessile subset — 196 images split 156 train / 40 val, resized to 256×256; a single fixed split (no test set; val used for evaluation).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Protocol: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4-iteration test-time refinement with Otsu initialization; predictions thresholded at 0.5.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Metrics: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Per-image Dice, IoU, FP%, FN%, Precision, Recall and FPR; binary val-metrics (Dice/Precision/Recall/FPR) logged every epoch to avoid the soft-dice-masks-collapse pitfall.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Statistics: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Paired per-image Wilcoxon signed-rank, rank-biserial effect size, bootstrap 95% CI, and Bayesian BF10; comparisons are within the same split/protocol.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Pre-registered gate: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cell passes if FP &lt; baseline − 0.01 AND Dice ≥ baseline − 0.02 AND FN ≤ baseline + 0.02; divergence checked at epoch 40 on binary val-Dice.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Power: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 n = 40, the minimum detectable Dice effect is ≈ 0.13; FP has smaller variance, so it is the primary metric.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Evidence tiers: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Results labeled TRAIN (trustworthy, 1 seed), FROZEN eval, or INVALID (bug); only TRAIN evidence supports the claims.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 txBox="1"/>
          <p:nvPr>
            <p:ph type="title"/>
          </p:nvPr>
        </p:nvSpPr>
        <p:spPr>
          <a:xfrm>
            <a:off x="284749" y="136525"/>
            <a:ext cx="9914388" cy="6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Qualitative Results</a:t>
            </a:r>
            <a:endParaRPr/>
          </a:p>
        </p:txBody>
      </p:sp>
      <p:sp>
        <p:nvSpPr>
          <p:cNvPr id="144" name="Google Shape;144;p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8"/>
          <p:cNvSpPr txBox="1"/>
          <p:nvPr>
            <p:ph idx="1" type="body"/>
          </p:nvPr>
        </p:nvSpPr>
        <p:spPr>
          <a:xfrm>
            <a:off x="276726" y="2084031"/>
            <a:ext cx="11476003" cy="2939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Feedback behavior: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Without feedback (T0N / TD):</a:t>
            </a:r>
            <a:r>
              <a:rPr lang="en-US"/>
              <a:t> </a:t>
            </a:r>
            <a:endParaRPr/>
          </a:p>
          <a:p>
            <a:pPr indent="-330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Asymmetric loss progressively </a:t>
            </a:r>
            <a:r>
              <a:rPr b="1" lang="en-US"/>
              <a:t>contracts the foreground</a:t>
            </a:r>
            <a:r>
              <a:rPr lang="en-US"/>
              <a:t> </a:t>
            </a:r>
            <a:endParaRPr/>
          </a:p>
          <a:p>
            <a:pPr indent="-330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Produces </a:t>
            </a:r>
            <a:r>
              <a:rPr b="1" lang="en-US"/>
              <a:t>tighter polyp boundaries</a:t>
            </a:r>
            <a:r>
              <a:rPr lang="en-US"/>
              <a:t> </a:t>
            </a:r>
            <a:endParaRPr/>
          </a:p>
          <a:p>
            <a:pPr indent="-330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Removes spurious background blobs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With feedback (T00 / TC):</a:t>
            </a:r>
            <a:r>
              <a:rPr lang="en-US"/>
              <a:t> </a:t>
            </a:r>
            <a:endParaRPr/>
          </a:p>
          <a:p>
            <a:pPr indent="-330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Masks tend to </a:t>
            </a:r>
            <a:r>
              <a:rPr b="1" lang="en-US"/>
              <a:t>converge to the previous polyp region</a:t>
            </a:r>
            <a:r>
              <a:rPr lang="en-US"/>
              <a:t> </a:t>
            </a:r>
            <a:endParaRPr/>
          </a:p>
          <a:p>
            <a:pPr indent="-330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Can retain </a:t>
            </a:r>
            <a:r>
              <a:rPr b="1" lang="en-US"/>
              <a:t>distant false positives</a:t>
            </a:r>
            <a:r>
              <a:rPr lang="en-US"/>
              <a:t> </a:t>
            </a:r>
            <a:endParaRPr/>
          </a:p>
          <a:p>
            <a:pPr indent="-330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b="1" lang="en-US"/>
              <a:t>TC</a:t>
            </a:r>
            <a:r>
              <a:rPr lang="en-US"/>
              <a:t> keeps more over-segmented regions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"/>
          <p:cNvSpPr txBox="1"/>
          <p:nvPr>
            <p:ph idx="1" type="body"/>
          </p:nvPr>
        </p:nvSpPr>
        <p:spPr>
          <a:xfrm>
            <a:off x="276726" y="930444"/>
            <a:ext cx="2609775" cy="502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Final metrics per cell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</p:txBody>
      </p:sp>
      <p:sp>
        <p:nvSpPr>
          <p:cNvPr id="151" name="Google Shape;151;p1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The diagram displays a comparison of different metrics (Dice, FP, FN, and T00, TC, TON, TD) for various combinations of feedback (FB, orig, asym) and without feedback (noFB, orig) in a phase-based learning process.&#10;&#10;AI-generated content may be incorrect." id="152" name="Google Shape;15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62239"/>
            <a:ext cx="12192000" cy="3751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 txBox="1"/>
          <p:nvPr>
            <p:ph idx="1" type="body"/>
          </p:nvPr>
        </p:nvSpPr>
        <p:spPr>
          <a:xfrm>
            <a:off x="276727" y="930444"/>
            <a:ext cx="4656940" cy="7482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Paired ΔFP: TD vs T0N (27/40 ảnh giảm FP)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</p:txBody>
      </p:sp>
      <p:sp>
        <p:nvSpPr>
          <p:cNvPr id="158" name="Google Shape;158;p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The image is a scatter plot showing the relationship between the number of false positives (FP) and their statistical significance (p-value), with data points indicating a negative correlation and a mean value of -3.25 pp.&#10;&#10;AI-generated content may be incorrect." id="159" name="Google Shape;1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477" y="1481421"/>
            <a:ext cx="10001250" cy="500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"/>
          <p:cNvSpPr txBox="1"/>
          <p:nvPr>
            <p:ph idx="1" type="body"/>
          </p:nvPr>
        </p:nvSpPr>
        <p:spPr>
          <a:xfrm>
            <a:off x="276727" y="930444"/>
            <a:ext cx="4656940" cy="7482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Paired ΔDice: TC vs T00 (21/40 ảnh)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</p:txBody>
      </p:sp>
      <p:sp>
        <p:nvSpPr>
          <p:cNvPr id="165" name="Google Shape;165;p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6" name="Google Shape;16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477" y="1481421"/>
            <a:ext cx="1000125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image is a scatter plot comparing the TC to T00 values, with a mean Dice coefficient of +0.051, indicating a slight positive correlation.&#10;&#10;AI-generated content may be incorrect." id="167" name="Google Shape;16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0880" y="1406359"/>
            <a:ext cx="10001250" cy="500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"/>
          <p:cNvSpPr txBox="1"/>
          <p:nvPr>
            <p:ph idx="1" type="body"/>
          </p:nvPr>
        </p:nvSpPr>
        <p:spPr>
          <a:xfrm>
            <a:off x="276727" y="930444"/>
            <a:ext cx="5277912" cy="632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Training curves (binary val-Dice/FPR per epoch)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</p:txBody>
      </p:sp>
      <p:sp>
        <p:nvSpPr>
          <p:cNvPr id="173" name="Google Shape;173;p1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The image illustrates a graph comparing the precision, recall, and F1 score (Dice coefficient) of a model's performance across different epochs during training.&#10;&#10;AI-generated content may be incorrect." id="174" name="Google Shape;17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803400"/>
            <a:ext cx="12192000" cy="325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 txBox="1"/>
          <p:nvPr>
            <p:ph idx="1" type="body"/>
          </p:nvPr>
        </p:nvSpPr>
        <p:spPr>
          <a:xfrm>
            <a:off x="276727" y="930444"/>
            <a:ext cx="5277912" cy="632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Factorial main effects and interaction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</p:txBody>
      </p:sp>
      <p:sp>
        <p:nvSpPr>
          <p:cNvPr id="180" name="Google Shape;180;p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The image illustrates a statistical comparison of various factors (FP and Dice) and their interactions on two different measures (asym loss and delta), with some factors having a negative correlation.&#10;&#10;AI-generated content may be incorrect." id="181" name="Google Shape;18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79550"/>
            <a:ext cx="1219200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2"/>
          <p:cNvSpPr txBox="1"/>
          <p:nvPr>
            <p:ph idx="1" type="body"/>
          </p:nvPr>
        </p:nvSpPr>
        <p:spPr>
          <a:xfrm>
            <a:off x="276727" y="930444"/>
            <a:ext cx="5277912" cy="632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Fmask không học (nhánh attention chết)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</p:txBody>
      </p:sp>
      <p:sp>
        <p:nvSpPr>
          <p:cNvPr id="187" name="Google Shape;187;p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8" name="Google Shape;18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62669"/>
            <a:ext cx="12192000" cy="5418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 txBox="1"/>
          <p:nvPr>
            <p:ph idx="1" type="body"/>
          </p:nvPr>
        </p:nvSpPr>
        <p:spPr>
          <a:xfrm>
            <a:off x="276727" y="930444"/>
            <a:ext cx="5277912" cy="632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Lỗi theo confidence (feedback quá thô)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</p:txBody>
      </p:sp>
      <p:sp>
        <p:nvSpPr>
          <p:cNvPr id="194" name="Google Shape;194;p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The graph illustrates the relationship between binarized prediction error rates and confidence levels, showing a significant drop in error rates as confidence increases, with specific values at low (48.7%) and high (2.7%) confidence levels.&#10;&#10;AI-generated content may be incorrect." id="195" name="Google Shape;19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304" y="1344431"/>
            <a:ext cx="11027391" cy="6126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4"/>
          <p:cNvSpPr txBox="1"/>
          <p:nvPr>
            <p:ph idx="1" type="body"/>
          </p:nvPr>
        </p:nvSpPr>
        <p:spPr>
          <a:xfrm>
            <a:off x="276727" y="930444"/>
            <a:ext cx="5277912" cy="632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Qualitative montage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</p:txBody>
      </p:sp>
      <p:sp>
        <p:nvSpPr>
          <p:cNvPr id="201" name="Google Shape;201;p3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The image is a collection of various medical imaging modalities and segmentation masks, including MRI, CT scans, and various annotated datasets like Kvasir-SEG, CVC-ClinicDB, and CHASE-DB1.&#10;&#10;AI-generated content may be incorrect." id="202" name="Google Shape;20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3797" y="1040642"/>
            <a:ext cx="3954438" cy="56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3371536" y="3075057"/>
            <a:ext cx="544892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1E4E79"/>
                </a:solidFill>
                <a:latin typeface="Overlock"/>
                <a:ea typeface="Overlock"/>
                <a:cs typeface="Overlock"/>
                <a:sym typeface="Overlock"/>
              </a:rPr>
              <a:t>Thank you for listening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